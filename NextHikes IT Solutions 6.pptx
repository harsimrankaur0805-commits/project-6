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4" r:id="rId14"/>
    <p:sldId id="269" r:id="rId15"/>
    <p:sldId id="270" r:id="rId16"/>
    <p:sldId id="271" r:id="rId17"/>
    <p:sldId id="272" r:id="rId18"/>
    <p:sldId id="273"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47197"/>
            <a:ext cx="7772400" cy="1470025"/>
          </a:xfrm>
        </p:spPr>
        <p:txBody>
          <a:bodyPr>
            <a:normAutofit/>
          </a:bodyPr>
          <a:lstStyle/>
          <a:p>
            <a:r>
              <a:rPr lang="en-IN" sz="6000" b="1" dirty="0">
                <a:solidFill>
                  <a:srgbClr val="C00000"/>
                </a:solidFill>
                <a:latin typeface="Aptos Display" panose="020B0004020202020204" pitchFamily="34" charset="0"/>
              </a:rPr>
              <a:t>NextHikes IT Solutions</a:t>
            </a:r>
            <a:endParaRPr sz="6000" dirty="0">
              <a:latin typeface="Aptos Display" panose="020B0004020202020204" pitchFamily="34" charset="0"/>
            </a:endParaRPr>
          </a:p>
        </p:txBody>
      </p:sp>
      <p:sp>
        <p:nvSpPr>
          <p:cNvPr id="3" name="Subtitle 2"/>
          <p:cNvSpPr>
            <a:spLocks noGrp="1"/>
          </p:cNvSpPr>
          <p:nvPr>
            <p:ph type="subTitle" idx="1"/>
          </p:nvPr>
        </p:nvSpPr>
        <p:spPr>
          <a:xfrm>
            <a:off x="1371600" y="2725990"/>
            <a:ext cx="6400800" cy="1752600"/>
          </a:xfrm>
        </p:spPr>
        <p:txBody>
          <a:bodyPr>
            <a:normAutofit fontScale="92500" lnSpcReduction="10000"/>
          </a:bodyPr>
          <a:lstStyle/>
          <a:p>
            <a:r>
              <a:rPr lang="en-IN" dirty="0">
                <a:solidFill>
                  <a:schemeClr val="tx1"/>
                </a:solidFill>
              </a:rPr>
              <a:t>Rossmann Sales Forecasting Using Machine Learning</a:t>
            </a:r>
            <a:br>
              <a:rPr lang="en-IN" dirty="0">
                <a:solidFill>
                  <a:schemeClr val="tx1"/>
                </a:solidFill>
              </a:rPr>
            </a:br>
            <a:r>
              <a:rPr lang="en-IN" dirty="0">
                <a:solidFill>
                  <a:schemeClr val="tx1"/>
                </a:solidFill>
                <a:latin typeface="Calibri" panose="020F0502020204030204" pitchFamily="34" charset="0"/>
                <a:ea typeface="Calibri" panose="020F0502020204030204" pitchFamily="34" charset="0"/>
                <a:cs typeface="Calibri" panose="020F0502020204030204" pitchFamily="34" charset="0"/>
              </a:rPr>
              <a:t>by</a:t>
            </a:r>
            <a:br>
              <a:rPr lang="en-IN"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Harsimran Kaur</a:t>
            </a:r>
            <a:endParaRPr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6990"/>
            <a:ext cx="8229600" cy="1143000"/>
          </a:xfrm>
        </p:spPr>
        <p:txBody>
          <a:bodyPr/>
          <a:lstStyle/>
          <a:p>
            <a:r>
              <a:rPr b="1"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Introduction</a:t>
            </a:r>
          </a:p>
        </p:txBody>
      </p:sp>
      <p:sp>
        <p:nvSpPr>
          <p:cNvPr id="3" name="Content Placeholder 2"/>
          <p:cNvSpPr>
            <a:spLocks noGrp="1"/>
          </p:cNvSpPr>
          <p:nvPr>
            <p:ph idx="1"/>
          </p:nvPr>
        </p:nvSpPr>
        <p:spPr>
          <a:xfrm>
            <a:off x="457200" y="1187242"/>
            <a:ext cx="8229600" cy="4525963"/>
          </a:xfrm>
        </p:spPr>
        <p:txBody>
          <a:bodyPr>
            <a:noAutofit/>
          </a:bodyPr>
          <a:lstStyle/>
          <a:p>
            <a:r>
              <a:rPr lang="en-US" sz="2600" dirty="0">
                <a:latin typeface="Calibri Light" panose="020F0302020204030204" pitchFamily="34" charset="0"/>
                <a:ea typeface="Calibri Light" panose="020F0302020204030204" pitchFamily="34" charset="0"/>
                <a:cs typeface="Calibri Light" panose="020F0302020204030204" pitchFamily="34" charset="0"/>
              </a:rPr>
              <a:t>Rossmann operates thousands of retail stores across Europe and generates large volumes of sales data every day. This project uses historical store information, promotional activities, competition data, and sales records to forecast future store sales using machine learning techniques.</a:t>
            </a:r>
          </a:p>
          <a:p>
            <a:r>
              <a:rPr lang="en-US" sz="2600" b="1" dirty="0">
                <a:latin typeface="Calibri Light" panose="020F0302020204030204" pitchFamily="34" charset="0"/>
                <a:ea typeface="Calibri Light" panose="020F0302020204030204" pitchFamily="34" charset="0"/>
                <a:cs typeface="Calibri Light" panose="020F0302020204030204" pitchFamily="34" charset="0"/>
              </a:rPr>
              <a:t>Objectives:</a:t>
            </a:r>
            <a:endParaRPr lang="en-US" sz="2600" dirty="0">
              <a:latin typeface="Calibri Light" panose="020F0302020204030204" pitchFamily="34" charset="0"/>
              <a:ea typeface="Calibri Light" panose="020F0302020204030204" pitchFamily="34" charset="0"/>
              <a:cs typeface="Calibri Light" panose="020F0302020204030204" pitchFamily="34" charset="0"/>
            </a:endParaRPr>
          </a:p>
          <a:p>
            <a:r>
              <a:rPr lang="en-US" sz="2600" dirty="0">
                <a:latin typeface="Calibri Light" panose="020F0302020204030204" pitchFamily="34" charset="0"/>
                <a:ea typeface="Calibri Light" panose="020F0302020204030204" pitchFamily="34" charset="0"/>
                <a:cs typeface="Calibri Light" panose="020F0302020204030204" pitchFamily="34" charset="0"/>
              </a:rPr>
              <a:t>• Analyze historical sales patterns</a:t>
            </a:r>
          </a:p>
          <a:p>
            <a:pPr marL="0" indent="0">
              <a:buNone/>
            </a:pPr>
            <a:r>
              <a:rPr lang="en-US" sz="2600" dirty="0">
                <a:latin typeface="Calibri Light" panose="020F0302020204030204" pitchFamily="34" charset="0"/>
                <a:ea typeface="Calibri Light" panose="020F0302020204030204" pitchFamily="34" charset="0"/>
                <a:cs typeface="Calibri Light" panose="020F0302020204030204" pitchFamily="34" charset="0"/>
              </a:rPr>
              <a:t>       • Understand factors affecting store sales</a:t>
            </a:r>
          </a:p>
          <a:p>
            <a:pPr marL="0" indent="0">
              <a:buNone/>
            </a:pPr>
            <a:r>
              <a:rPr lang="en-US" sz="2600" dirty="0">
                <a:latin typeface="Calibri Light" panose="020F0302020204030204" pitchFamily="34" charset="0"/>
                <a:ea typeface="Calibri Light" panose="020F0302020204030204" pitchFamily="34" charset="0"/>
                <a:cs typeface="Calibri Light" panose="020F0302020204030204" pitchFamily="34" charset="0"/>
              </a:rPr>
              <a:t>       • Build a machine learning forecasting model</a:t>
            </a:r>
          </a:p>
          <a:p>
            <a:pPr marL="0" indent="0">
              <a:buNone/>
            </a:pPr>
            <a:r>
              <a:rPr lang="en-US" sz="2600" dirty="0">
                <a:latin typeface="Calibri Light" panose="020F0302020204030204" pitchFamily="34" charset="0"/>
                <a:ea typeface="Calibri Light" panose="020F0302020204030204" pitchFamily="34" charset="0"/>
                <a:cs typeface="Calibri Light" panose="020F0302020204030204" pitchFamily="34" charset="0"/>
              </a:rPr>
              <a:t>       • Evaluate prediction performance</a:t>
            </a:r>
          </a:p>
          <a:p>
            <a:pPr marL="0" indent="0">
              <a:buNone/>
            </a:pPr>
            <a:r>
              <a:rPr lang="en-US" sz="2600" dirty="0">
                <a:latin typeface="Calibri Light" panose="020F0302020204030204" pitchFamily="34" charset="0"/>
                <a:ea typeface="Calibri Light" panose="020F0302020204030204" pitchFamily="34" charset="0"/>
                <a:cs typeface="Calibri Light" panose="020F0302020204030204" pitchFamily="34" charset="0"/>
              </a:rPr>
              <a:t>       • Support business decision making through insights</a:t>
            </a:r>
            <a:endParaRPr sz="2600" dirty="0">
              <a:latin typeface="Calibri Light" panose="020F0302020204030204" pitchFamily="34" charset="0"/>
              <a:ea typeface="Calibri Light" panose="020F0302020204030204" pitchFamily="34" charset="0"/>
              <a:cs typeface="Calibri Light" panose="020F03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6986"/>
            <a:ext cx="8229600" cy="1143000"/>
          </a:xfrm>
        </p:spPr>
        <p:txBody>
          <a:bodyPr/>
          <a:lstStyle/>
          <a:p>
            <a:r>
              <a:rPr b="1" dirty="0">
                <a:solidFill>
                  <a:srgbClr val="C00000"/>
                </a:solidFill>
              </a:rPr>
              <a:t>Problem Statement</a:t>
            </a:r>
          </a:p>
        </p:txBody>
      </p:sp>
      <p:sp>
        <p:nvSpPr>
          <p:cNvPr id="3" name="Content Placeholder 2"/>
          <p:cNvSpPr>
            <a:spLocks noGrp="1"/>
          </p:cNvSpPr>
          <p:nvPr>
            <p:ph idx="1"/>
          </p:nvPr>
        </p:nvSpPr>
        <p:spPr>
          <a:xfrm>
            <a:off x="457200" y="1197085"/>
            <a:ext cx="8229600" cy="4525963"/>
          </a:xfrm>
        </p:spPr>
        <p:txBody>
          <a:bodyPr>
            <a:noAutofit/>
          </a:bodyPr>
          <a:lstStyle/>
          <a:p>
            <a:pPr marL="0" indent="0">
              <a:buNone/>
            </a:pPr>
            <a:r>
              <a:rPr lang="en-US" sz="2400" dirty="0">
                <a:latin typeface="Calibri Light" panose="020F0302020204030204" pitchFamily="34" charset="0"/>
                <a:ea typeface="Calibri Light" panose="020F0302020204030204" pitchFamily="34" charset="0"/>
                <a:cs typeface="Calibri Light" panose="020F0302020204030204" pitchFamily="34" charset="0"/>
              </a:rPr>
              <a:t>• Retail sales are influenced by multiple factors such as promotions, holidays, store type, competition, and seasonal trends.</a:t>
            </a:r>
          </a:p>
          <a:p>
            <a:pPr marL="0" indent="0">
              <a:buNone/>
            </a:pPr>
            <a:endParaRPr lang="en-US" sz="2400" dirty="0">
              <a:latin typeface="Calibri Light" panose="020F0302020204030204" pitchFamily="34" charset="0"/>
              <a:ea typeface="Calibri Light" panose="020F0302020204030204" pitchFamily="34" charset="0"/>
              <a:cs typeface="Calibri Light" panose="020F0302020204030204" pitchFamily="34" charset="0"/>
            </a:endParaRPr>
          </a:p>
          <a:p>
            <a:pPr marL="0" indent="0">
              <a:buNone/>
            </a:pPr>
            <a:r>
              <a:rPr lang="en-US" sz="2400" dirty="0">
                <a:latin typeface="Calibri Light" panose="020F0302020204030204" pitchFamily="34" charset="0"/>
                <a:ea typeface="Calibri Light" panose="020F0302020204030204" pitchFamily="34" charset="0"/>
                <a:cs typeface="Calibri Light" panose="020F0302020204030204" pitchFamily="34" charset="0"/>
              </a:rPr>
              <a:t>• Accurate sales forecasting is essential for inventory planning, workforce management, marketing campaigns, and business growth.</a:t>
            </a:r>
          </a:p>
          <a:p>
            <a:pPr marL="0" indent="0">
              <a:buNone/>
            </a:pPr>
            <a:endParaRPr lang="en-US" sz="2400" dirty="0">
              <a:latin typeface="Calibri Light" panose="020F0302020204030204" pitchFamily="34" charset="0"/>
              <a:ea typeface="Calibri Light" panose="020F0302020204030204" pitchFamily="34" charset="0"/>
              <a:cs typeface="Calibri Light" panose="020F0302020204030204" pitchFamily="34" charset="0"/>
            </a:endParaRPr>
          </a:p>
          <a:p>
            <a:pPr marL="0" indent="0">
              <a:buNone/>
            </a:pPr>
            <a:r>
              <a:rPr lang="en-US" sz="2400" dirty="0">
                <a:latin typeface="Calibri Light" panose="020F0302020204030204" pitchFamily="34" charset="0"/>
                <a:ea typeface="Calibri Light" panose="020F0302020204030204" pitchFamily="34" charset="0"/>
                <a:cs typeface="Calibri Light" panose="020F0302020204030204" pitchFamily="34" charset="0"/>
              </a:rPr>
              <a:t>• Traditional forecasting methods may not capture complex relationships in large datasets.</a:t>
            </a:r>
          </a:p>
          <a:p>
            <a:pPr marL="0" indent="0">
              <a:buNone/>
            </a:pPr>
            <a:endParaRPr lang="en-US" sz="2400" dirty="0">
              <a:latin typeface="Calibri Light" panose="020F0302020204030204" pitchFamily="34" charset="0"/>
              <a:ea typeface="Calibri Light" panose="020F0302020204030204" pitchFamily="34" charset="0"/>
              <a:cs typeface="Calibri Light" panose="020F0302020204030204" pitchFamily="34" charset="0"/>
            </a:endParaRPr>
          </a:p>
          <a:p>
            <a:pPr marL="0" indent="0">
              <a:buNone/>
            </a:pPr>
            <a:r>
              <a:rPr lang="en-US" sz="2400" dirty="0">
                <a:latin typeface="Calibri Light" panose="020F0302020204030204" pitchFamily="34" charset="0"/>
                <a:ea typeface="Calibri Light" panose="020F0302020204030204" pitchFamily="34" charset="0"/>
                <a:cs typeface="Calibri Light" panose="020F0302020204030204" pitchFamily="34" charset="0"/>
              </a:rPr>
              <a:t>• Therefore, a machine learning-based forecasting system is developed to predict future sales more effectively.</a:t>
            </a:r>
            <a:endParaRPr sz="2400" dirty="0">
              <a:latin typeface="Calibri Light" panose="020F0302020204030204" pitchFamily="34" charset="0"/>
              <a:ea typeface="Calibri Light" panose="020F0302020204030204" pitchFamily="34" charset="0"/>
              <a:cs typeface="Calibri Light" panose="020F03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646"/>
            <a:ext cx="8229600" cy="1143000"/>
          </a:xfrm>
        </p:spPr>
        <p:txBody>
          <a:bodyPr/>
          <a:lstStyle/>
          <a:p>
            <a:r>
              <a:rPr b="1" dirty="0">
                <a:solidFill>
                  <a:srgbClr val="C00000"/>
                </a:solidFill>
              </a:rPr>
              <a:t>Project Objectives</a:t>
            </a:r>
          </a:p>
        </p:txBody>
      </p:sp>
      <p:sp>
        <p:nvSpPr>
          <p:cNvPr id="3" name="Content Placeholder 2"/>
          <p:cNvSpPr>
            <a:spLocks noGrp="1"/>
          </p:cNvSpPr>
          <p:nvPr>
            <p:ph idx="1"/>
          </p:nvPr>
        </p:nvSpPr>
        <p:spPr/>
        <p:txBody>
          <a:bodyPr>
            <a:noAutofit/>
          </a:bodyPr>
          <a:lstStyle/>
          <a:p>
            <a:pPr marL="0" indent="0">
              <a:buNone/>
            </a:pPr>
            <a:r>
              <a:rPr lang="en-US" sz="2600" dirty="0">
                <a:latin typeface="Calibri Light" panose="020F0302020204030204" pitchFamily="34" charset="0"/>
                <a:ea typeface="Calibri Light" panose="020F0302020204030204" pitchFamily="34" charset="0"/>
                <a:cs typeface="Calibri Light" panose="020F0302020204030204" pitchFamily="34" charset="0"/>
              </a:rPr>
              <a:t>• Analyze historical sales data from Rossmann stores.</a:t>
            </a:r>
          </a:p>
          <a:p>
            <a:pPr marL="0" indent="0">
              <a:buNone/>
            </a:pPr>
            <a:r>
              <a:rPr lang="en-US" sz="2600" dirty="0">
                <a:latin typeface="Calibri Light" panose="020F0302020204030204" pitchFamily="34" charset="0"/>
                <a:ea typeface="Calibri Light" panose="020F0302020204030204" pitchFamily="34" charset="0"/>
                <a:cs typeface="Calibri Light" panose="020F0302020204030204" pitchFamily="34" charset="0"/>
              </a:rPr>
              <a:t>• Identify factors affecting daily sales performance.</a:t>
            </a:r>
          </a:p>
          <a:p>
            <a:pPr marL="0" indent="0">
              <a:buNone/>
            </a:pPr>
            <a:r>
              <a:rPr lang="en-US" sz="2600" dirty="0">
                <a:latin typeface="Calibri Light" panose="020F0302020204030204" pitchFamily="34" charset="0"/>
                <a:ea typeface="Calibri Light" panose="020F0302020204030204" pitchFamily="34" charset="0"/>
                <a:cs typeface="Calibri Light" panose="020F0302020204030204" pitchFamily="34" charset="0"/>
              </a:rPr>
              <a:t>• Perform data cleaning and feature engineering.</a:t>
            </a:r>
          </a:p>
          <a:p>
            <a:pPr marL="0" indent="0">
              <a:buNone/>
            </a:pPr>
            <a:r>
              <a:rPr lang="en-US" sz="2600" dirty="0">
                <a:latin typeface="Calibri Light" panose="020F0302020204030204" pitchFamily="34" charset="0"/>
                <a:ea typeface="Calibri Light" panose="020F0302020204030204" pitchFamily="34" charset="0"/>
                <a:cs typeface="Calibri Light" panose="020F0302020204030204" pitchFamily="34" charset="0"/>
              </a:rPr>
              <a:t>• Build and train a Random Forest Regression model.</a:t>
            </a:r>
          </a:p>
          <a:p>
            <a:pPr marL="0" indent="0">
              <a:buNone/>
            </a:pPr>
            <a:r>
              <a:rPr lang="en-US" sz="2600" dirty="0">
                <a:latin typeface="Calibri Light" panose="020F0302020204030204" pitchFamily="34" charset="0"/>
                <a:ea typeface="Calibri Light" panose="020F0302020204030204" pitchFamily="34" charset="0"/>
                <a:cs typeface="Calibri Light" panose="020F0302020204030204" pitchFamily="34" charset="0"/>
              </a:rPr>
              <a:t>• Evaluate model performance using MAE, RMSE, and R² Score.</a:t>
            </a:r>
          </a:p>
          <a:p>
            <a:pPr marL="0" indent="0">
              <a:buNone/>
            </a:pPr>
            <a:r>
              <a:rPr lang="en-US" sz="2600" dirty="0">
                <a:latin typeface="Calibri Light" panose="020F0302020204030204" pitchFamily="34" charset="0"/>
                <a:ea typeface="Calibri Light" panose="020F0302020204030204" pitchFamily="34" charset="0"/>
                <a:cs typeface="Calibri Light" panose="020F0302020204030204" pitchFamily="34" charset="0"/>
              </a:rPr>
              <a:t>• Generate sales predictions for unseen test data.</a:t>
            </a:r>
          </a:p>
          <a:p>
            <a:pPr marL="0" indent="0">
              <a:buNone/>
            </a:pPr>
            <a:r>
              <a:rPr lang="en-US" sz="2600" dirty="0">
                <a:latin typeface="Calibri Light" panose="020F0302020204030204" pitchFamily="34" charset="0"/>
                <a:ea typeface="Calibri Light" panose="020F0302020204030204" pitchFamily="34" charset="0"/>
                <a:cs typeface="Calibri Light" panose="020F0302020204030204" pitchFamily="34" charset="0"/>
              </a:rPr>
              <a:t>• Support business decision-making through data-driven insights.</a:t>
            </a:r>
            <a:endParaRPr sz="2600" dirty="0">
              <a:latin typeface="Calibri Light" panose="020F0302020204030204" pitchFamily="34" charset="0"/>
              <a:ea typeface="Calibri Light" panose="020F0302020204030204" pitchFamily="34" charset="0"/>
              <a:cs typeface="Calibri Light" panose="020F0302020204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7326"/>
            <a:ext cx="8229600" cy="1143000"/>
          </a:xfrm>
        </p:spPr>
        <p:txBody>
          <a:bodyPr/>
          <a:lstStyle/>
          <a:p>
            <a:r>
              <a:rPr b="1" dirty="0">
                <a:solidFill>
                  <a:srgbClr val="C00000"/>
                </a:solidFill>
              </a:rPr>
              <a:t>Dataset Overview</a:t>
            </a:r>
          </a:p>
        </p:txBody>
      </p:sp>
      <p:sp>
        <p:nvSpPr>
          <p:cNvPr id="3" name="Content Placeholder 2"/>
          <p:cNvSpPr>
            <a:spLocks noGrp="1"/>
          </p:cNvSpPr>
          <p:nvPr>
            <p:ph idx="1"/>
          </p:nvPr>
        </p:nvSpPr>
        <p:spPr>
          <a:xfrm>
            <a:off x="457200" y="1118424"/>
            <a:ext cx="8229600" cy="4525963"/>
          </a:xfrm>
        </p:spPr>
        <p:txBody>
          <a:bodyPr>
            <a:normAutofit fontScale="70000" lnSpcReduction="20000"/>
          </a:bodyPr>
          <a:lstStyle/>
          <a:p>
            <a:r>
              <a:rPr lang="en-IN" dirty="0"/>
              <a:t>The Rossmann Sales Forecasting project uses three datasets:</a:t>
            </a:r>
          </a:p>
          <a:p>
            <a:pPr marL="0" indent="0">
              <a:buNone/>
            </a:pPr>
            <a:r>
              <a:rPr lang="en-IN" dirty="0"/>
              <a:t>     •    Train Dataset</a:t>
            </a:r>
          </a:p>
          <a:p>
            <a:pPr marL="0" indent="0">
              <a:buNone/>
            </a:pPr>
            <a:r>
              <a:rPr lang="en-IN" dirty="0"/>
              <a:t>     •    Historical sales records</a:t>
            </a:r>
          </a:p>
          <a:p>
            <a:pPr marL="0" indent="0">
              <a:buNone/>
            </a:pPr>
            <a:r>
              <a:rPr lang="en-IN" dirty="0"/>
              <a:t>     •    Contains target variable: Sales</a:t>
            </a:r>
          </a:p>
          <a:p>
            <a:pPr marL="0" indent="0">
              <a:buNone/>
            </a:pPr>
            <a:r>
              <a:rPr lang="en-IN" dirty="0"/>
              <a:t>• Test Dataset:</a:t>
            </a:r>
          </a:p>
          <a:p>
            <a:pPr marL="0" indent="0">
              <a:buNone/>
            </a:pPr>
            <a:r>
              <a:rPr lang="en-IN" dirty="0"/>
              <a:t>     • Future store records</a:t>
            </a:r>
          </a:p>
          <a:p>
            <a:pPr marL="0" indent="0">
              <a:buNone/>
            </a:pPr>
            <a:r>
              <a:rPr lang="en-IN" dirty="0"/>
              <a:t>     • Used for generating predictions</a:t>
            </a:r>
          </a:p>
          <a:p>
            <a:pPr marL="0" indent="0">
              <a:buNone/>
            </a:pPr>
            <a:r>
              <a:rPr lang="en-IN" dirty="0"/>
              <a:t>• Store Dataset:</a:t>
            </a:r>
          </a:p>
          <a:p>
            <a:pPr marL="0" indent="0">
              <a:buNone/>
            </a:pPr>
            <a:r>
              <a:rPr lang="en-IN" dirty="0"/>
              <a:t>      • Store information</a:t>
            </a:r>
          </a:p>
          <a:p>
            <a:pPr marL="0" indent="0">
              <a:buNone/>
            </a:pPr>
            <a:r>
              <a:rPr lang="en-IN" dirty="0"/>
              <a:t>      • Store type and assortment</a:t>
            </a:r>
          </a:p>
          <a:p>
            <a:pPr marL="0" indent="0">
              <a:buNone/>
            </a:pPr>
            <a:r>
              <a:rPr lang="en-IN" dirty="0"/>
              <a:t>      • Competition details</a:t>
            </a:r>
          </a:p>
          <a:p>
            <a:pPr marL="0" indent="0">
              <a:buNone/>
            </a:pPr>
            <a:r>
              <a:rPr lang="en-IN" dirty="0"/>
              <a:t>      • Promotion information</a:t>
            </a:r>
            <a:endParaRPr dirty="0"/>
          </a:p>
        </p:txBody>
      </p:sp>
      <p:pic>
        <p:nvPicPr>
          <p:cNvPr id="5" name="Picture 4">
            <a:extLst>
              <a:ext uri="{FF2B5EF4-FFF2-40B4-BE49-F238E27FC236}">
                <a16:creationId xmlns:a16="http://schemas.microsoft.com/office/drawing/2014/main" id="{7EC75E75-0063-DF1F-0564-9F2F5D434528}"/>
              </a:ext>
            </a:extLst>
          </p:cNvPr>
          <p:cNvPicPr>
            <a:picLocks noChangeAspect="1"/>
          </p:cNvPicPr>
          <p:nvPr/>
        </p:nvPicPr>
        <p:blipFill>
          <a:blip r:embed="rId2"/>
          <a:stretch>
            <a:fillRect/>
          </a:stretch>
        </p:blipFill>
        <p:spPr>
          <a:xfrm>
            <a:off x="4936088" y="1668430"/>
            <a:ext cx="3971938" cy="447842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7494"/>
            <a:ext cx="8229600" cy="1143000"/>
          </a:xfrm>
        </p:spPr>
        <p:txBody>
          <a:bodyPr/>
          <a:lstStyle/>
          <a:p>
            <a:r>
              <a:rPr b="1" dirty="0">
                <a:solidFill>
                  <a:srgbClr val="C00000"/>
                </a:solidFill>
              </a:rPr>
              <a:t>Data Preprocessing</a:t>
            </a:r>
          </a:p>
        </p:txBody>
      </p:sp>
      <p:sp>
        <p:nvSpPr>
          <p:cNvPr id="3" name="Content Placeholder 2"/>
          <p:cNvSpPr>
            <a:spLocks noGrp="1"/>
          </p:cNvSpPr>
          <p:nvPr>
            <p:ph idx="1"/>
          </p:nvPr>
        </p:nvSpPr>
        <p:spPr>
          <a:xfrm>
            <a:off x="457200" y="1157751"/>
            <a:ext cx="8229600" cy="4525963"/>
          </a:xfrm>
        </p:spPr>
        <p:txBody>
          <a:bodyPr>
            <a:noAutofit/>
          </a:bodyPr>
          <a:lstStyle/>
          <a:p>
            <a:pPr marL="0" indent="0">
              <a:buNone/>
            </a:pPr>
            <a:r>
              <a:rPr lang="en-US" sz="2000" dirty="0">
                <a:latin typeface="Calibri Light" panose="020F0302020204030204" pitchFamily="34" charset="0"/>
                <a:ea typeface="Calibri Light" panose="020F0302020204030204" pitchFamily="34" charset="0"/>
                <a:cs typeface="Calibri Light" panose="020F0302020204030204" pitchFamily="34" charset="0"/>
              </a:rPr>
              <a:t>Data preprocessing was performed to prepare the dataset for machine learning.</a:t>
            </a:r>
          </a:p>
          <a:p>
            <a:pPr marL="0" indent="0">
              <a:buNone/>
            </a:pPr>
            <a:r>
              <a:rPr lang="en-US" sz="2000" dirty="0">
                <a:latin typeface="Calibri Light" panose="020F0302020204030204" pitchFamily="34" charset="0"/>
                <a:ea typeface="Calibri Light" panose="020F0302020204030204" pitchFamily="34" charset="0"/>
                <a:cs typeface="Calibri Light" panose="020F0302020204030204" pitchFamily="34" charset="0"/>
              </a:rPr>
              <a:t>Key Steps:</a:t>
            </a:r>
          </a:p>
          <a:p>
            <a:pPr marL="0" indent="0">
              <a:buNone/>
            </a:pPr>
            <a:r>
              <a:rPr lang="en-US" sz="2000" dirty="0">
                <a:latin typeface="Calibri Light" panose="020F0302020204030204" pitchFamily="34" charset="0"/>
                <a:ea typeface="Calibri Light" panose="020F0302020204030204" pitchFamily="34" charset="0"/>
                <a:cs typeface="Calibri Light" panose="020F0302020204030204" pitchFamily="34" charset="0"/>
              </a:rPr>
              <a:t>• Merged train and store datasets.</a:t>
            </a:r>
          </a:p>
          <a:p>
            <a:pPr marL="0" indent="0">
              <a:buNone/>
            </a:pPr>
            <a:r>
              <a:rPr lang="en-US" sz="2000" dirty="0">
                <a:latin typeface="Calibri Light" panose="020F0302020204030204" pitchFamily="34" charset="0"/>
                <a:ea typeface="Calibri Light" panose="020F0302020204030204" pitchFamily="34" charset="0"/>
                <a:cs typeface="Calibri Light" panose="020F0302020204030204" pitchFamily="34" charset="0"/>
              </a:rPr>
              <a:t>• Handled missing values in competition and promotion-related columns.</a:t>
            </a:r>
          </a:p>
          <a:p>
            <a:pPr marL="0" indent="0">
              <a:buNone/>
            </a:pPr>
            <a:r>
              <a:rPr lang="en-US" sz="2000" dirty="0">
                <a:latin typeface="Calibri Light" panose="020F0302020204030204" pitchFamily="34" charset="0"/>
                <a:ea typeface="Calibri Light" panose="020F0302020204030204" pitchFamily="34" charset="0"/>
                <a:cs typeface="Calibri Light" panose="020F0302020204030204" pitchFamily="34" charset="0"/>
              </a:rPr>
              <a:t>• Filled numerical missing values using median values.</a:t>
            </a:r>
          </a:p>
          <a:p>
            <a:pPr marL="0" indent="0">
              <a:buNone/>
            </a:pPr>
            <a:r>
              <a:rPr lang="en-US" sz="2000" dirty="0">
                <a:latin typeface="Calibri Light" panose="020F0302020204030204" pitchFamily="34" charset="0"/>
                <a:ea typeface="Calibri Light" panose="020F0302020204030204" pitchFamily="34" charset="0"/>
                <a:cs typeface="Calibri Light" panose="020F0302020204030204" pitchFamily="34" charset="0"/>
              </a:rPr>
              <a:t>• Filled categorical missing values with default values.</a:t>
            </a:r>
          </a:p>
          <a:p>
            <a:pPr marL="0" indent="0">
              <a:buNone/>
            </a:pPr>
            <a:r>
              <a:rPr lang="en-US" sz="2000" dirty="0">
                <a:latin typeface="Calibri Light" panose="020F0302020204030204" pitchFamily="34" charset="0"/>
                <a:ea typeface="Calibri Light" panose="020F0302020204030204" pitchFamily="34" charset="0"/>
                <a:cs typeface="Calibri Light" panose="020F0302020204030204" pitchFamily="34" charset="0"/>
              </a:rPr>
              <a:t>• Removed inconsistencies and prepared clean data.</a:t>
            </a:r>
          </a:p>
          <a:p>
            <a:pPr marL="0" indent="0">
              <a:buNone/>
            </a:pPr>
            <a:r>
              <a:rPr lang="en-US" sz="2000" dirty="0">
                <a:latin typeface="Calibri Light" panose="020F0302020204030204" pitchFamily="34" charset="0"/>
                <a:ea typeface="Calibri Light" panose="020F0302020204030204" pitchFamily="34" charset="0"/>
                <a:cs typeface="Calibri Light" panose="020F0302020204030204" pitchFamily="34" charset="0"/>
              </a:rPr>
              <a:t>• Generated a complete dataset for feature engineering.</a:t>
            </a:r>
            <a:endParaRPr sz="2000"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5" name="Picture 4">
            <a:extLst>
              <a:ext uri="{FF2B5EF4-FFF2-40B4-BE49-F238E27FC236}">
                <a16:creationId xmlns:a16="http://schemas.microsoft.com/office/drawing/2014/main" id="{36DBAA88-A8F9-20FC-16C0-ACA0F63B7CF0}"/>
              </a:ext>
            </a:extLst>
          </p:cNvPr>
          <p:cNvPicPr>
            <a:picLocks noChangeAspect="1"/>
          </p:cNvPicPr>
          <p:nvPr/>
        </p:nvPicPr>
        <p:blipFill>
          <a:blip r:embed="rId2"/>
          <a:stretch>
            <a:fillRect/>
          </a:stretch>
        </p:blipFill>
        <p:spPr>
          <a:xfrm>
            <a:off x="2074979" y="4583130"/>
            <a:ext cx="4148839" cy="198118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646"/>
            <a:ext cx="8229600" cy="1143000"/>
          </a:xfrm>
        </p:spPr>
        <p:txBody>
          <a:bodyPr/>
          <a:lstStyle/>
          <a:p>
            <a:r>
              <a:rPr b="1" dirty="0">
                <a:solidFill>
                  <a:srgbClr val="C00000"/>
                </a:solidFill>
              </a:rPr>
              <a:t>Feature Engineering</a:t>
            </a:r>
          </a:p>
        </p:txBody>
      </p:sp>
      <p:sp>
        <p:nvSpPr>
          <p:cNvPr id="3" name="Content Placeholder 2"/>
          <p:cNvSpPr>
            <a:spLocks noGrp="1"/>
          </p:cNvSpPr>
          <p:nvPr>
            <p:ph idx="1"/>
          </p:nvPr>
        </p:nvSpPr>
        <p:spPr>
          <a:xfrm>
            <a:off x="457200" y="1246237"/>
            <a:ext cx="8229600" cy="4525963"/>
          </a:xfrm>
        </p:spPr>
        <p:txBody>
          <a:bodyPr>
            <a:noAutofit/>
          </a:bodyPr>
          <a:lstStyle/>
          <a:p>
            <a:r>
              <a:rPr lang="en-US" sz="1400" dirty="0"/>
              <a:t>Feature engineering was performed to extract useful information from the Date column.</a:t>
            </a:r>
          </a:p>
          <a:p>
            <a:endParaRPr lang="en-US" sz="1400" dirty="0"/>
          </a:p>
          <a:p>
            <a:r>
              <a:rPr lang="en-US" sz="1400" dirty="0"/>
              <a:t>New Features Created:</a:t>
            </a:r>
          </a:p>
          <a:p>
            <a:pPr marL="0" indent="0">
              <a:buNone/>
            </a:pPr>
            <a:r>
              <a:rPr lang="en-US" sz="1400" dirty="0"/>
              <a:t>•        Year</a:t>
            </a:r>
          </a:p>
          <a:p>
            <a:r>
              <a:rPr lang="en-US" sz="1400" dirty="0"/>
              <a:t> Captures yearly sales trends</a:t>
            </a:r>
            <a:r>
              <a:rPr lang="en-US" sz="1200" dirty="0"/>
              <a:t>.</a:t>
            </a:r>
          </a:p>
          <a:p>
            <a:endParaRPr lang="en-US" sz="1200" dirty="0"/>
          </a:p>
          <a:p>
            <a:pPr marL="0" indent="0">
              <a:buNone/>
            </a:pPr>
            <a:r>
              <a:rPr lang="en-US" sz="1400" dirty="0"/>
              <a:t>• Month</a:t>
            </a:r>
          </a:p>
          <a:p>
            <a:r>
              <a:rPr lang="en-US" sz="1400" dirty="0"/>
              <a:t>  Helps identify seasonal patterns.</a:t>
            </a:r>
          </a:p>
          <a:p>
            <a:r>
              <a:rPr lang="en-US" sz="1400" dirty="0"/>
              <a:t>  Day</a:t>
            </a:r>
          </a:p>
          <a:p>
            <a:r>
              <a:rPr lang="en-US" sz="1400" dirty="0"/>
              <a:t>  Represents daily sales variations.</a:t>
            </a:r>
          </a:p>
          <a:p>
            <a:endParaRPr lang="en-US" sz="1400" dirty="0"/>
          </a:p>
          <a:p>
            <a:pPr marL="0" indent="0">
              <a:buNone/>
            </a:pPr>
            <a:r>
              <a:rPr lang="en-US" sz="1400" dirty="0"/>
              <a:t>• Weekday</a:t>
            </a:r>
          </a:p>
          <a:p>
            <a:r>
              <a:rPr lang="en-US" sz="1400" dirty="0"/>
              <a:t>  Captures weekly customer behavior.</a:t>
            </a:r>
          </a:p>
          <a:p>
            <a:endParaRPr lang="en-US" sz="1400" dirty="0"/>
          </a:p>
          <a:p>
            <a:r>
              <a:rPr lang="en-US" sz="1400" dirty="0"/>
              <a:t>Benefits:</a:t>
            </a:r>
          </a:p>
          <a:p>
            <a:pPr marL="0" indent="0">
              <a:buNone/>
            </a:pPr>
            <a:r>
              <a:rPr lang="en-US" sz="1400" dirty="0"/>
              <a:t>         • Improves model learning.</a:t>
            </a:r>
          </a:p>
          <a:p>
            <a:endParaRPr lang="en-US" sz="1400" dirty="0"/>
          </a:p>
          <a:p>
            <a:pPr marL="0" indent="0">
              <a:buNone/>
            </a:pPr>
            <a:r>
              <a:rPr lang="en-US" sz="1400" dirty="0"/>
              <a:t>         • Enhances prediction accuracy.</a:t>
            </a:r>
          </a:p>
          <a:p>
            <a:endParaRPr lang="en-US" sz="1400" dirty="0"/>
          </a:p>
          <a:p>
            <a:pPr marL="0" indent="0">
              <a:buNone/>
            </a:pPr>
            <a:r>
              <a:rPr lang="en-US" sz="1400" dirty="0"/>
              <a:t>          • Helps identify temporal sales patterns.</a:t>
            </a:r>
            <a:endParaRPr sz="1400" dirty="0"/>
          </a:p>
        </p:txBody>
      </p:sp>
      <p:pic>
        <p:nvPicPr>
          <p:cNvPr id="5" name="Picture 4">
            <a:extLst>
              <a:ext uri="{FF2B5EF4-FFF2-40B4-BE49-F238E27FC236}">
                <a16:creationId xmlns:a16="http://schemas.microsoft.com/office/drawing/2014/main" id="{126A1DEC-2793-03C8-73C6-021A0C2E35EB}"/>
              </a:ext>
            </a:extLst>
          </p:cNvPr>
          <p:cNvPicPr>
            <a:picLocks noChangeAspect="1"/>
          </p:cNvPicPr>
          <p:nvPr/>
        </p:nvPicPr>
        <p:blipFill>
          <a:blip r:embed="rId2"/>
          <a:stretch>
            <a:fillRect/>
          </a:stretch>
        </p:blipFill>
        <p:spPr>
          <a:xfrm>
            <a:off x="4457689" y="2507225"/>
            <a:ext cx="4006791" cy="236498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6486"/>
            <a:ext cx="8229600" cy="1143000"/>
          </a:xfrm>
        </p:spPr>
        <p:txBody>
          <a:bodyPr/>
          <a:lstStyle/>
          <a:p>
            <a:r>
              <a:rPr lang="en-IN" b="1" dirty="0">
                <a:solidFill>
                  <a:srgbClr val="C00000"/>
                </a:solidFill>
              </a:rPr>
              <a:t>Model Building</a:t>
            </a:r>
            <a:endParaRPr b="1" dirty="0">
              <a:solidFill>
                <a:srgbClr val="C00000"/>
              </a:solidFill>
            </a:endParaRPr>
          </a:p>
        </p:txBody>
      </p:sp>
      <p:sp>
        <p:nvSpPr>
          <p:cNvPr id="3" name="Content Placeholder 2"/>
          <p:cNvSpPr>
            <a:spLocks noGrp="1"/>
          </p:cNvSpPr>
          <p:nvPr>
            <p:ph idx="1"/>
          </p:nvPr>
        </p:nvSpPr>
        <p:spPr>
          <a:xfrm>
            <a:off x="457200" y="1236409"/>
            <a:ext cx="8229600" cy="4525963"/>
          </a:xfrm>
        </p:spPr>
        <p:txBody>
          <a:bodyPr>
            <a:noAutofit/>
          </a:bodyPr>
          <a:lstStyle/>
          <a:p>
            <a:r>
              <a:rPr lang="en-US" sz="2200" dirty="0"/>
              <a:t>A Random Forest Regression model was selected for sales forecasting.</a:t>
            </a:r>
          </a:p>
          <a:p>
            <a:endParaRPr lang="en-US" sz="2200" dirty="0"/>
          </a:p>
          <a:p>
            <a:r>
              <a:rPr lang="en-US" sz="2200" dirty="0"/>
              <a:t>Reasons for selecting Random Forest:</a:t>
            </a:r>
          </a:p>
          <a:p>
            <a:endParaRPr lang="en-US" sz="2200" dirty="0"/>
          </a:p>
          <a:p>
            <a:pPr marL="0" indent="0">
              <a:buNone/>
            </a:pPr>
            <a:r>
              <a:rPr lang="en-US" sz="2200" dirty="0"/>
              <a:t>       • Handles large datasets efficiently.</a:t>
            </a:r>
          </a:p>
          <a:p>
            <a:endParaRPr lang="en-US" sz="2200" dirty="0"/>
          </a:p>
          <a:p>
            <a:pPr marL="0" indent="0">
              <a:buNone/>
            </a:pPr>
            <a:r>
              <a:rPr lang="en-US" sz="2200" dirty="0"/>
              <a:t>       • Captures complex relationships between features.</a:t>
            </a:r>
          </a:p>
          <a:p>
            <a:endParaRPr lang="en-US" sz="2200" dirty="0"/>
          </a:p>
          <a:p>
            <a:pPr marL="0" indent="0">
              <a:buNone/>
            </a:pPr>
            <a:r>
              <a:rPr lang="en-US" sz="2200" dirty="0"/>
              <a:t>       • Reduces overfitting through ensemble learning.</a:t>
            </a:r>
          </a:p>
          <a:p>
            <a:pPr marL="0" indent="0">
              <a:buNone/>
            </a:pPr>
            <a:endParaRPr lang="en-US" sz="2200" dirty="0"/>
          </a:p>
          <a:p>
            <a:pPr marL="0" indent="0">
              <a:buNone/>
            </a:pPr>
            <a:r>
              <a:rPr lang="en-US" sz="2200" dirty="0"/>
              <a:t>       • Provides feature importance analysis.</a:t>
            </a:r>
          </a:p>
          <a:p>
            <a:endParaRPr lang="en-US" sz="2200" dirty="0"/>
          </a:p>
          <a:p>
            <a:pPr marL="0" indent="0">
              <a:buNone/>
            </a:pPr>
            <a:r>
              <a:rPr lang="en-US" sz="2200" dirty="0"/>
              <a:t>       • Delivers robust prediction performance.</a:t>
            </a:r>
            <a:endParaRPr sz="2200" dirty="0"/>
          </a:p>
        </p:txBody>
      </p:sp>
      <p:pic>
        <p:nvPicPr>
          <p:cNvPr id="5" name="Picture 4">
            <a:extLst>
              <a:ext uri="{FF2B5EF4-FFF2-40B4-BE49-F238E27FC236}">
                <a16:creationId xmlns:a16="http://schemas.microsoft.com/office/drawing/2014/main" id="{D51A94EE-759A-55CD-6A19-0073F5C03D6C}"/>
              </a:ext>
            </a:extLst>
          </p:cNvPr>
          <p:cNvPicPr>
            <a:picLocks noChangeAspect="1"/>
          </p:cNvPicPr>
          <p:nvPr/>
        </p:nvPicPr>
        <p:blipFill>
          <a:blip r:embed="rId2"/>
          <a:stretch>
            <a:fillRect/>
          </a:stretch>
        </p:blipFill>
        <p:spPr>
          <a:xfrm>
            <a:off x="5447073" y="2553477"/>
            <a:ext cx="3402066" cy="119072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6989"/>
            <a:ext cx="8229600" cy="1143000"/>
          </a:xfrm>
        </p:spPr>
        <p:txBody>
          <a:bodyPr/>
          <a:lstStyle/>
          <a:p>
            <a:r>
              <a:rPr lang="en-IN" b="1" dirty="0">
                <a:solidFill>
                  <a:srgbClr val="C00000"/>
                </a:solidFill>
              </a:rPr>
              <a:t>Model Evaluation</a:t>
            </a:r>
            <a:endParaRPr b="1" dirty="0">
              <a:solidFill>
                <a:srgbClr val="C00000"/>
              </a:solidFill>
            </a:endParaRPr>
          </a:p>
        </p:txBody>
      </p:sp>
      <p:sp>
        <p:nvSpPr>
          <p:cNvPr id="3" name="Content Placeholder 2"/>
          <p:cNvSpPr>
            <a:spLocks noGrp="1"/>
          </p:cNvSpPr>
          <p:nvPr>
            <p:ph idx="1"/>
          </p:nvPr>
        </p:nvSpPr>
        <p:spPr>
          <a:xfrm>
            <a:off x="457200" y="1197077"/>
            <a:ext cx="8229600" cy="4525963"/>
          </a:xfrm>
        </p:spPr>
        <p:txBody>
          <a:bodyPr>
            <a:normAutofit fontScale="62500" lnSpcReduction="20000"/>
          </a:bodyPr>
          <a:lstStyle/>
          <a:p>
            <a:r>
              <a:rPr lang="en-US" dirty="0"/>
              <a:t>The Random Forest Regression model was evaluated using standard regression metrics to measure prediction accuracy and reliability.</a:t>
            </a:r>
          </a:p>
          <a:p>
            <a:endParaRPr lang="en-US" dirty="0"/>
          </a:p>
          <a:p>
            <a:r>
              <a:rPr lang="en-US" dirty="0"/>
              <a:t>Evaluation Metrics:</a:t>
            </a:r>
          </a:p>
          <a:p>
            <a:pPr marL="0" indent="0">
              <a:buNone/>
            </a:pPr>
            <a:r>
              <a:rPr lang="en-US" dirty="0"/>
              <a:t>       • Mean Absolute Error (MAE)</a:t>
            </a:r>
          </a:p>
          <a:p>
            <a:pPr marL="0" indent="0">
              <a:buNone/>
            </a:pPr>
            <a:r>
              <a:rPr lang="en-US" dirty="0"/>
              <a:t>       • Measures average prediction error.</a:t>
            </a:r>
          </a:p>
          <a:p>
            <a:endParaRPr lang="en-US" dirty="0"/>
          </a:p>
          <a:p>
            <a:pPr marL="0" indent="0">
              <a:buNone/>
            </a:pPr>
            <a:r>
              <a:rPr lang="en-US" dirty="0"/>
              <a:t>       • Root Mean Squared Error (RMSE)</a:t>
            </a:r>
          </a:p>
          <a:p>
            <a:pPr marL="0" indent="0">
              <a:buNone/>
            </a:pPr>
            <a:r>
              <a:rPr lang="en-US" dirty="0"/>
              <a:t>       • Penalizes larger prediction errors.</a:t>
            </a:r>
          </a:p>
          <a:p>
            <a:pPr marL="0" indent="0">
              <a:buNone/>
            </a:pPr>
            <a:endParaRPr lang="en-US" dirty="0"/>
          </a:p>
          <a:p>
            <a:pPr marL="0" indent="0">
              <a:buNone/>
            </a:pPr>
            <a:r>
              <a:rPr lang="en-US" dirty="0"/>
              <a:t>• R² Score</a:t>
            </a:r>
          </a:p>
          <a:p>
            <a:pPr marL="0" indent="0">
              <a:buNone/>
            </a:pPr>
            <a:r>
              <a:rPr lang="en-US" dirty="0"/>
              <a:t>       • Indicates how well the model explains sales variations.</a:t>
            </a:r>
          </a:p>
          <a:p>
            <a:pPr marL="0" indent="0">
              <a:buNone/>
            </a:pPr>
            <a:r>
              <a:rPr lang="en-US" dirty="0"/>
              <a:t>       • These metrics help assess overall model performance and forecasting                  capability.</a:t>
            </a:r>
            <a:endParaRPr dirty="0"/>
          </a:p>
        </p:txBody>
      </p:sp>
      <p:pic>
        <p:nvPicPr>
          <p:cNvPr id="7" name="Picture 6">
            <a:extLst>
              <a:ext uri="{FF2B5EF4-FFF2-40B4-BE49-F238E27FC236}">
                <a16:creationId xmlns:a16="http://schemas.microsoft.com/office/drawing/2014/main" id="{E9BF3774-DB22-6123-1348-422E01CB4B41}"/>
              </a:ext>
            </a:extLst>
          </p:cNvPr>
          <p:cNvPicPr>
            <a:picLocks noChangeAspect="1"/>
          </p:cNvPicPr>
          <p:nvPr/>
        </p:nvPicPr>
        <p:blipFill>
          <a:blip r:embed="rId2"/>
          <a:stretch>
            <a:fillRect/>
          </a:stretch>
        </p:blipFill>
        <p:spPr>
          <a:xfrm>
            <a:off x="2692366" y="5462753"/>
            <a:ext cx="3550104" cy="96017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8649"/>
            <a:ext cx="8229600" cy="1143000"/>
          </a:xfrm>
        </p:spPr>
        <p:txBody>
          <a:bodyPr/>
          <a:lstStyle/>
          <a:p>
            <a:r>
              <a:rPr lang="en-IN" b="1" dirty="0">
                <a:solidFill>
                  <a:srgbClr val="C00000"/>
                </a:solidFill>
              </a:rPr>
              <a:t>Feature Importance Analysis</a:t>
            </a:r>
            <a:endParaRPr b="1" dirty="0">
              <a:solidFill>
                <a:srgbClr val="C00000"/>
              </a:solidFill>
            </a:endParaRPr>
          </a:p>
        </p:txBody>
      </p:sp>
      <p:sp>
        <p:nvSpPr>
          <p:cNvPr id="3" name="Content Placeholder 2"/>
          <p:cNvSpPr>
            <a:spLocks noGrp="1"/>
          </p:cNvSpPr>
          <p:nvPr>
            <p:ph idx="1"/>
          </p:nvPr>
        </p:nvSpPr>
        <p:spPr>
          <a:xfrm>
            <a:off x="457200" y="961102"/>
            <a:ext cx="8229600" cy="4525963"/>
          </a:xfrm>
        </p:spPr>
        <p:txBody>
          <a:bodyPr>
            <a:normAutofit/>
          </a:bodyPr>
          <a:lstStyle/>
          <a:p>
            <a:pPr marL="0" indent="0">
              <a:buNone/>
            </a:pPr>
            <a:r>
              <a:rPr lang="en-IN" sz="2400" dirty="0"/>
              <a:t>🟢 Open stores contribute most to sales.</a:t>
            </a:r>
          </a:p>
          <a:p>
            <a:pPr marL="0" indent="0">
              <a:buNone/>
            </a:pPr>
            <a:r>
              <a:rPr lang="en-IN" sz="2400" dirty="0"/>
              <a:t>🔵 Promotions strongly influence revenue.</a:t>
            </a:r>
          </a:p>
          <a:p>
            <a:pPr marL="0" indent="0">
              <a:buNone/>
            </a:pPr>
            <a:r>
              <a:rPr lang="en-IN" sz="2400" dirty="0"/>
              <a:t>🟠 Competition impacts store performance.</a:t>
            </a:r>
          </a:p>
        </p:txBody>
      </p:sp>
      <p:pic>
        <p:nvPicPr>
          <p:cNvPr id="5" name="Picture 4">
            <a:extLst>
              <a:ext uri="{FF2B5EF4-FFF2-40B4-BE49-F238E27FC236}">
                <a16:creationId xmlns:a16="http://schemas.microsoft.com/office/drawing/2014/main" id="{5BB60706-FD02-C5E4-BBAA-1EC56FF15B9B}"/>
              </a:ext>
            </a:extLst>
          </p:cNvPr>
          <p:cNvPicPr>
            <a:picLocks noChangeAspect="1"/>
          </p:cNvPicPr>
          <p:nvPr/>
        </p:nvPicPr>
        <p:blipFill>
          <a:blip r:embed="rId2"/>
          <a:stretch>
            <a:fillRect/>
          </a:stretch>
        </p:blipFill>
        <p:spPr>
          <a:xfrm>
            <a:off x="61952" y="2694038"/>
            <a:ext cx="8624848" cy="399866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8326"/>
            <a:ext cx="8229600" cy="1143000"/>
          </a:xfrm>
        </p:spPr>
        <p:txBody>
          <a:bodyPr/>
          <a:lstStyle/>
          <a:p>
            <a:r>
              <a:rPr lang="en-IN" b="1" dirty="0">
                <a:solidFill>
                  <a:srgbClr val="C00000"/>
                </a:solidFill>
              </a:rPr>
              <a:t>Residual Analysis</a:t>
            </a:r>
            <a:endParaRPr b="1" dirty="0">
              <a:solidFill>
                <a:srgbClr val="C00000"/>
              </a:solidFill>
            </a:endParaRPr>
          </a:p>
        </p:txBody>
      </p:sp>
      <p:sp>
        <p:nvSpPr>
          <p:cNvPr id="3" name="Content Placeholder 2"/>
          <p:cNvSpPr>
            <a:spLocks noGrp="1"/>
          </p:cNvSpPr>
          <p:nvPr>
            <p:ph idx="1"/>
          </p:nvPr>
        </p:nvSpPr>
        <p:spPr>
          <a:xfrm>
            <a:off x="457200" y="1275737"/>
            <a:ext cx="8229600" cy="4525963"/>
          </a:xfrm>
        </p:spPr>
        <p:txBody>
          <a:bodyPr/>
          <a:lstStyle/>
          <a:p>
            <a:pPr marL="0" indent="0">
              <a:buNone/>
            </a:pPr>
            <a:r>
              <a:rPr lang="en-IN" dirty="0"/>
              <a:t>🟢 Most residuals are centred around zero.</a:t>
            </a:r>
          </a:p>
          <a:p>
            <a:pPr marL="0" indent="0">
              <a:buNone/>
            </a:pPr>
            <a:r>
              <a:rPr lang="en-IN" dirty="0"/>
              <a:t>🔵 Prediction errors are relatively small and balanced.</a:t>
            </a:r>
          </a:p>
          <a:p>
            <a:pPr marL="0" indent="0">
              <a:buNone/>
            </a:pPr>
            <a:r>
              <a:rPr lang="en-IN" dirty="0"/>
              <a:t>🟠 The model shows good generalization performance.</a:t>
            </a:r>
          </a:p>
        </p:txBody>
      </p:sp>
      <p:pic>
        <p:nvPicPr>
          <p:cNvPr id="4" name="Picture 3">
            <a:extLst>
              <a:ext uri="{FF2B5EF4-FFF2-40B4-BE49-F238E27FC236}">
                <a16:creationId xmlns:a16="http://schemas.microsoft.com/office/drawing/2014/main" id="{C81C4B14-95E5-F602-0B7A-50CBC0D81197}"/>
              </a:ext>
            </a:extLst>
          </p:cNvPr>
          <p:cNvPicPr>
            <a:picLocks noChangeAspect="1"/>
          </p:cNvPicPr>
          <p:nvPr/>
        </p:nvPicPr>
        <p:blipFill>
          <a:blip r:embed="rId2"/>
          <a:stretch>
            <a:fillRect/>
          </a:stretch>
        </p:blipFill>
        <p:spPr>
          <a:xfrm>
            <a:off x="1209369" y="3912660"/>
            <a:ext cx="6971070" cy="281818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76317"/>
            <a:ext cx="8229600" cy="1143000"/>
          </a:xfrm>
        </p:spPr>
        <p:txBody>
          <a:bodyPr>
            <a:normAutofit fontScale="90000"/>
          </a:bodyPr>
          <a:lstStyle/>
          <a:p>
            <a:r>
              <a:rPr lang="en-IN" b="1" dirty="0">
                <a:solidFill>
                  <a:srgbClr val="C00000"/>
                </a:solidFill>
              </a:rPr>
              <a:t>Model Deployment &amp; Prediction Generation</a:t>
            </a:r>
            <a:endParaRPr b="1" dirty="0">
              <a:solidFill>
                <a:srgbClr val="C00000"/>
              </a:solidFill>
            </a:endParaRPr>
          </a:p>
        </p:txBody>
      </p:sp>
      <p:sp>
        <p:nvSpPr>
          <p:cNvPr id="3" name="Content Placeholder 2"/>
          <p:cNvSpPr>
            <a:spLocks noGrp="1"/>
          </p:cNvSpPr>
          <p:nvPr>
            <p:ph idx="1"/>
          </p:nvPr>
        </p:nvSpPr>
        <p:spPr/>
        <p:txBody>
          <a:bodyPr>
            <a:normAutofit/>
          </a:bodyPr>
          <a:lstStyle/>
          <a:p>
            <a:r>
              <a:rPr lang="en-IN" sz="2400" dirty="0"/>
              <a:t>The trained Random Forest model was used to generate predictions on unseen test data.</a:t>
            </a:r>
          </a:p>
          <a:p>
            <a:endParaRPr lang="en-IN" sz="2400" dirty="0"/>
          </a:p>
          <a:p>
            <a:pPr marL="0" indent="0">
              <a:buNone/>
            </a:pPr>
            <a:r>
              <a:rPr lang="en-IN" sz="2400" dirty="0"/>
              <a:t>• Prediction results were exported to a CSV file.</a:t>
            </a:r>
          </a:p>
          <a:p>
            <a:pPr marL="0" indent="0">
              <a:buNone/>
            </a:pPr>
            <a:endParaRPr lang="en-IN" sz="2400" dirty="0"/>
          </a:p>
          <a:p>
            <a:pPr marL="0" indent="0">
              <a:buNone/>
            </a:pPr>
            <a:r>
              <a:rPr lang="en-IN" sz="2400" dirty="0"/>
              <a:t>• The saved model can be reused without retraining.</a:t>
            </a:r>
          </a:p>
          <a:p>
            <a:pPr marL="0" indent="0">
              <a:buNone/>
            </a:pPr>
            <a:endParaRPr lang="en-IN" sz="2400" dirty="0"/>
          </a:p>
        </p:txBody>
      </p:sp>
      <p:pic>
        <p:nvPicPr>
          <p:cNvPr id="7" name="Picture 6">
            <a:extLst>
              <a:ext uri="{FF2B5EF4-FFF2-40B4-BE49-F238E27FC236}">
                <a16:creationId xmlns:a16="http://schemas.microsoft.com/office/drawing/2014/main" id="{25EFB302-BDDA-EBDE-8BAD-22932CF8ED61}"/>
              </a:ext>
            </a:extLst>
          </p:cNvPr>
          <p:cNvPicPr>
            <a:picLocks noChangeAspect="1"/>
          </p:cNvPicPr>
          <p:nvPr/>
        </p:nvPicPr>
        <p:blipFill>
          <a:blip r:embed="rId2"/>
          <a:stretch>
            <a:fillRect/>
          </a:stretch>
        </p:blipFill>
        <p:spPr>
          <a:xfrm>
            <a:off x="1837317" y="4709651"/>
            <a:ext cx="5469366" cy="64156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DC26DF-310E-C455-E5EC-DBA1AD4D5A9E}"/>
              </a:ext>
            </a:extLst>
          </p:cNvPr>
          <p:cNvSpPr txBox="1"/>
          <p:nvPr/>
        </p:nvSpPr>
        <p:spPr>
          <a:xfrm>
            <a:off x="383458" y="149625"/>
            <a:ext cx="8308258" cy="707886"/>
          </a:xfrm>
          <a:prstGeom prst="rect">
            <a:avLst/>
          </a:prstGeom>
          <a:noFill/>
        </p:spPr>
        <p:txBody>
          <a:bodyPr wrap="square">
            <a:spAutoFit/>
          </a:bodyPr>
          <a:lstStyle/>
          <a:p>
            <a:r>
              <a:rPr lang="en-IN" sz="4000" b="1" dirty="0">
                <a:solidFill>
                  <a:srgbClr val="C00000"/>
                </a:solidFill>
              </a:rPr>
              <a:t>   Model Optimization &amp; Compression</a:t>
            </a:r>
          </a:p>
        </p:txBody>
      </p:sp>
      <p:sp>
        <p:nvSpPr>
          <p:cNvPr id="5" name="TextBox 4">
            <a:extLst>
              <a:ext uri="{FF2B5EF4-FFF2-40B4-BE49-F238E27FC236}">
                <a16:creationId xmlns:a16="http://schemas.microsoft.com/office/drawing/2014/main" id="{BE50E9CF-BDAB-7E9A-7509-39CBD30C1C1D}"/>
              </a:ext>
            </a:extLst>
          </p:cNvPr>
          <p:cNvSpPr txBox="1"/>
          <p:nvPr/>
        </p:nvSpPr>
        <p:spPr>
          <a:xfrm>
            <a:off x="383458" y="1044325"/>
            <a:ext cx="8377084" cy="2677656"/>
          </a:xfrm>
          <a:prstGeom prst="rect">
            <a:avLst/>
          </a:prstGeom>
          <a:noFill/>
        </p:spPr>
        <p:txBody>
          <a:bodyPr wrap="square">
            <a:spAutoFit/>
          </a:bodyPr>
          <a:lstStyle/>
          <a:p>
            <a:pPr>
              <a:buNone/>
            </a:pPr>
            <a:r>
              <a:rPr lang="en-IN" sz="2400" dirty="0"/>
              <a:t>• To improve deployment efficiency, a smaller Random Forest model was created.</a:t>
            </a:r>
          </a:p>
          <a:p>
            <a:pPr>
              <a:buNone/>
            </a:pPr>
            <a:r>
              <a:rPr lang="en-IN" sz="2400" dirty="0"/>
              <a:t>• The optimized model used fewer trees and a limited depth to reduce complexity.</a:t>
            </a:r>
          </a:p>
          <a:p>
            <a:pPr>
              <a:buNone/>
            </a:pPr>
            <a:r>
              <a:rPr lang="en-IN" sz="2400" dirty="0"/>
              <a:t>• Model compression was applied using Joblib serialization.</a:t>
            </a:r>
          </a:p>
          <a:p>
            <a:pPr>
              <a:buNone/>
            </a:pPr>
            <a:r>
              <a:rPr lang="en-IN" sz="2400" dirty="0"/>
              <a:t>• The optimized model requires less storage while maintaining good performance.</a:t>
            </a:r>
          </a:p>
        </p:txBody>
      </p:sp>
      <p:pic>
        <p:nvPicPr>
          <p:cNvPr id="7" name="Picture 6">
            <a:extLst>
              <a:ext uri="{FF2B5EF4-FFF2-40B4-BE49-F238E27FC236}">
                <a16:creationId xmlns:a16="http://schemas.microsoft.com/office/drawing/2014/main" id="{E8F8A058-F742-88AF-9222-34B5D7247666}"/>
              </a:ext>
            </a:extLst>
          </p:cNvPr>
          <p:cNvPicPr>
            <a:picLocks noChangeAspect="1"/>
          </p:cNvPicPr>
          <p:nvPr/>
        </p:nvPicPr>
        <p:blipFill>
          <a:blip r:embed="rId2"/>
          <a:stretch>
            <a:fillRect/>
          </a:stretch>
        </p:blipFill>
        <p:spPr>
          <a:xfrm>
            <a:off x="2959511" y="3549886"/>
            <a:ext cx="3991896" cy="3158489"/>
          </a:xfrm>
          <a:prstGeom prst="rect">
            <a:avLst/>
          </a:prstGeom>
        </p:spPr>
      </p:pic>
    </p:spTree>
    <p:extLst>
      <p:ext uri="{BB962C8B-B14F-4D97-AF65-F5344CB8AC3E}">
        <p14:creationId xmlns:p14="http://schemas.microsoft.com/office/powerpoint/2010/main" val="37349037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C00000"/>
                </a:solidFill>
              </a:rPr>
              <a:t>Business Impact &amp; Benefits</a:t>
            </a:r>
            <a:endParaRPr b="1" dirty="0">
              <a:solidFill>
                <a:srgbClr val="C00000"/>
              </a:solidFill>
            </a:endParaRPr>
          </a:p>
        </p:txBody>
      </p:sp>
      <p:sp>
        <p:nvSpPr>
          <p:cNvPr id="3" name="Content Placeholder 2"/>
          <p:cNvSpPr>
            <a:spLocks noGrp="1"/>
          </p:cNvSpPr>
          <p:nvPr>
            <p:ph idx="1"/>
          </p:nvPr>
        </p:nvSpPr>
        <p:spPr/>
        <p:txBody>
          <a:bodyPr>
            <a:noAutofit/>
          </a:bodyPr>
          <a:lstStyle/>
          <a:p>
            <a:pPr marL="0" indent="0">
              <a:buNone/>
            </a:pPr>
            <a:r>
              <a:rPr lang="en-IN" sz="2800" dirty="0"/>
              <a:t>• Accurate sales forecasting helps stores maintain optimal inventory levels.</a:t>
            </a:r>
          </a:p>
          <a:p>
            <a:pPr marL="0" indent="0">
              <a:buNone/>
            </a:pPr>
            <a:r>
              <a:rPr lang="en-IN" sz="2800" dirty="0"/>
              <a:t>• Forecast predictions support workforce and staffing planning.</a:t>
            </a:r>
          </a:p>
          <a:p>
            <a:pPr marL="0" indent="0">
              <a:buNone/>
            </a:pPr>
            <a:r>
              <a:rPr lang="en-IN" sz="2800" dirty="0"/>
              <a:t>• Promotional campaigns can be planned more effectively using forecasted demand.</a:t>
            </a:r>
          </a:p>
          <a:p>
            <a:pPr marL="0" indent="0">
              <a:buNone/>
            </a:pPr>
            <a:r>
              <a:rPr lang="en-IN" sz="2800" dirty="0"/>
              <a:t>• Data-driven insights help managers make informed business decisions.</a:t>
            </a:r>
          </a:p>
          <a:p>
            <a:pPr marL="0" indent="0">
              <a:buNone/>
            </a:pPr>
            <a:r>
              <a:rPr lang="en-IN" sz="2800" dirty="0"/>
              <a:t>• Improved forecasting reduces operational costs and business risks.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8495"/>
            <a:ext cx="8229600" cy="1143000"/>
          </a:xfrm>
        </p:spPr>
        <p:txBody>
          <a:bodyPr/>
          <a:lstStyle/>
          <a:p>
            <a:r>
              <a:rPr lang="en-IN" b="1" dirty="0">
                <a:solidFill>
                  <a:srgbClr val="C00000"/>
                </a:solidFill>
              </a:rPr>
              <a:t>Interactive Dashboard</a:t>
            </a:r>
            <a:endParaRPr b="1" dirty="0">
              <a:solidFill>
                <a:srgbClr val="C00000"/>
              </a:solidFill>
            </a:endParaRPr>
          </a:p>
        </p:txBody>
      </p:sp>
      <p:sp>
        <p:nvSpPr>
          <p:cNvPr id="3" name="Content Placeholder 2"/>
          <p:cNvSpPr>
            <a:spLocks noGrp="1"/>
          </p:cNvSpPr>
          <p:nvPr>
            <p:ph idx="1"/>
          </p:nvPr>
        </p:nvSpPr>
        <p:spPr>
          <a:xfrm>
            <a:off x="457200" y="1108588"/>
            <a:ext cx="8229600" cy="4525963"/>
          </a:xfrm>
        </p:spPr>
        <p:txBody>
          <a:bodyPr>
            <a:normAutofit/>
          </a:bodyPr>
          <a:lstStyle/>
          <a:p>
            <a:r>
              <a:rPr lang="en-US" sz="2400" dirty="0"/>
              <a:t>An interactive dashboard was developed using Streamlit to visualize sales performance and forecasting insights.</a:t>
            </a:r>
          </a:p>
          <a:p>
            <a:pPr marL="0" indent="0">
              <a:buNone/>
            </a:pPr>
            <a:r>
              <a:rPr lang="en-US" sz="2400" dirty="0"/>
              <a:t>•   Dashboard Features:</a:t>
            </a:r>
          </a:p>
          <a:p>
            <a:pPr marL="0" indent="0">
              <a:buNone/>
            </a:pPr>
            <a:r>
              <a:rPr lang="en-US" sz="2400" dirty="0"/>
              <a:t>        • KPI Cards for key business metrics</a:t>
            </a:r>
          </a:p>
          <a:p>
            <a:pPr marL="0" indent="0">
              <a:buNone/>
            </a:pPr>
            <a:r>
              <a:rPr lang="en-US" sz="2400" dirty="0"/>
              <a:t>        • Interactive filters for data exploration</a:t>
            </a:r>
          </a:p>
          <a:p>
            <a:pPr marL="0" indent="0">
              <a:buNone/>
            </a:pPr>
            <a:r>
              <a:rPr lang="en-US" sz="2400" dirty="0"/>
              <a:t>        • Monthly sales trend analysis</a:t>
            </a:r>
          </a:p>
          <a:p>
            <a:pPr marL="0" indent="0">
              <a:buNone/>
            </a:pPr>
            <a:r>
              <a:rPr lang="en-US" sz="2400" dirty="0"/>
              <a:t>        • Store performance visualization</a:t>
            </a:r>
          </a:p>
          <a:p>
            <a:pPr marL="0" indent="0">
              <a:buNone/>
            </a:pPr>
            <a:r>
              <a:rPr lang="en-US" sz="2400" dirty="0"/>
              <a:t>        • Competition impact analysis</a:t>
            </a:r>
          </a:p>
          <a:p>
            <a:pPr marL="0" indent="0">
              <a:buNone/>
            </a:pPr>
            <a:r>
              <a:rPr lang="en-US" sz="2400" dirty="0"/>
              <a:t>        • Correlation heatmap</a:t>
            </a:r>
            <a:endParaRPr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Interactive Dashboard</a:t>
            </a:r>
          </a:p>
        </p:txBody>
      </p:sp>
      <p:sp>
        <p:nvSpPr>
          <p:cNvPr id="3" name="Content Placeholder 2"/>
          <p:cNvSpPr>
            <a:spLocks noGrp="1"/>
          </p:cNvSpPr>
          <p:nvPr>
            <p:ph idx="1"/>
          </p:nvPr>
        </p:nvSpPr>
        <p:spPr/>
        <p:txBody>
          <a:bodyPr/>
          <a:lstStyle/>
          <a:p>
            <a:r>
              <a:rPr dirty="0"/>
              <a:t>Built a Streamlit dashboard with KPIs, filters, charts, heatmaps, and business insights.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Business Recommendations</a:t>
            </a:r>
          </a:p>
        </p:txBody>
      </p:sp>
      <p:sp>
        <p:nvSpPr>
          <p:cNvPr id="3" name="Content Placeholder 2"/>
          <p:cNvSpPr>
            <a:spLocks noGrp="1"/>
          </p:cNvSpPr>
          <p:nvPr>
            <p:ph idx="1"/>
          </p:nvPr>
        </p:nvSpPr>
        <p:spPr/>
        <p:txBody>
          <a:bodyPr/>
          <a:lstStyle/>
          <a:p>
            <a:r>
              <a:t>Improve promotional planning, focus on high-performing stores, and use data-driven strategies.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 &amp; Future Scope</a:t>
            </a:r>
          </a:p>
        </p:txBody>
      </p:sp>
      <p:sp>
        <p:nvSpPr>
          <p:cNvPr id="3" name="Content Placeholder 2"/>
          <p:cNvSpPr>
            <a:spLocks noGrp="1"/>
          </p:cNvSpPr>
          <p:nvPr>
            <p:ph idx="1"/>
          </p:nvPr>
        </p:nvSpPr>
        <p:spPr/>
        <p:txBody>
          <a:bodyPr/>
          <a:lstStyle/>
          <a:p>
            <a:r>
              <a:t>Forecasting model delivered actionable insights. Future work may include deep learning and real-time forecasting.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839</TotalTime>
  <Words>891</Words>
  <Application>Microsoft Office PowerPoint</Application>
  <PresentationFormat>On-screen Show (4:3)</PresentationFormat>
  <Paragraphs>136</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 Display</vt:lpstr>
      <vt:lpstr>Arial</vt:lpstr>
      <vt:lpstr>Calibri</vt:lpstr>
      <vt:lpstr>Calibri Light</vt:lpstr>
      <vt:lpstr>Office Theme</vt:lpstr>
      <vt:lpstr>NextHikes IT Solutions</vt:lpstr>
      <vt:lpstr>Introduction</vt:lpstr>
      <vt:lpstr>Problem Statement</vt:lpstr>
      <vt:lpstr>Project Objectives</vt:lpstr>
      <vt:lpstr>Dataset Overview</vt:lpstr>
      <vt:lpstr>Data Preprocessing</vt:lpstr>
      <vt:lpstr>Feature Engineering</vt:lpstr>
      <vt:lpstr>Model Building</vt:lpstr>
      <vt:lpstr>Model Evaluation</vt:lpstr>
      <vt:lpstr>Feature Importance Analysis</vt:lpstr>
      <vt:lpstr>Residual Analysis</vt:lpstr>
      <vt:lpstr>Model Deployment &amp; Prediction Generation</vt:lpstr>
      <vt:lpstr>PowerPoint Presentation</vt:lpstr>
      <vt:lpstr>Business Impact &amp; Benefits</vt:lpstr>
      <vt:lpstr>Interactive Dashboard</vt:lpstr>
      <vt:lpstr>Interactive Dashboard</vt:lpstr>
      <vt:lpstr>Business Recommendations</vt:lpstr>
      <vt:lpstr>Conclusion &amp; Future Scope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hp</dc:creator>
  <cp:keywords/>
  <dc:description>generated using python-pptx</dc:description>
  <cp:lastModifiedBy>Harsimran Kaur</cp:lastModifiedBy>
  <cp:revision>15</cp:revision>
  <dcterms:created xsi:type="dcterms:W3CDTF">2013-01-27T09:14:16Z</dcterms:created>
  <dcterms:modified xsi:type="dcterms:W3CDTF">2026-06-17T17:01:01Z</dcterms:modified>
  <cp:category/>
</cp:coreProperties>
</file>